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456B-CE6B-47E5-9CBE-481AF3EAF1CE}" type="datetimeFigureOut">
              <a:rPr lang="zh-TW" altLang="en-US" smtClean="0"/>
              <a:t>2026/2/17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8550-F297-4E1C-9507-AEC21DE124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7344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456B-CE6B-47E5-9CBE-481AF3EAF1CE}" type="datetimeFigureOut">
              <a:rPr lang="zh-TW" altLang="en-US" smtClean="0"/>
              <a:t>2026/2/17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8550-F297-4E1C-9507-AEC21DE124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1844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456B-CE6B-47E5-9CBE-481AF3EAF1CE}" type="datetimeFigureOut">
              <a:rPr lang="zh-TW" altLang="en-US" smtClean="0"/>
              <a:t>2026/2/17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8550-F297-4E1C-9507-AEC21DE124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148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456B-CE6B-47E5-9CBE-481AF3EAF1CE}" type="datetimeFigureOut">
              <a:rPr lang="zh-TW" altLang="en-US" smtClean="0"/>
              <a:t>2026/2/17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8550-F297-4E1C-9507-AEC21DE124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1660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456B-CE6B-47E5-9CBE-481AF3EAF1CE}" type="datetimeFigureOut">
              <a:rPr lang="zh-TW" altLang="en-US" smtClean="0"/>
              <a:t>2026/2/17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8550-F297-4E1C-9507-AEC21DE124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9965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456B-CE6B-47E5-9CBE-481AF3EAF1CE}" type="datetimeFigureOut">
              <a:rPr lang="zh-TW" altLang="en-US" smtClean="0"/>
              <a:t>2026/2/17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8550-F297-4E1C-9507-AEC21DE124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1457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456B-CE6B-47E5-9CBE-481AF3EAF1CE}" type="datetimeFigureOut">
              <a:rPr lang="zh-TW" altLang="en-US" smtClean="0"/>
              <a:t>2026/2/17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8550-F297-4E1C-9507-AEC21DE124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497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456B-CE6B-47E5-9CBE-481AF3EAF1CE}" type="datetimeFigureOut">
              <a:rPr lang="zh-TW" altLang="en-US" smtClean="0"/>
              <a:t>2026/2/17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8550-F297-4E1C-9507-AEC21DE124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1544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456B-CE6B-47E5-9CBE-481AF3EAF1CE}" type="datetimeFigureOut">
              <a:rPr lang="zh-TW" altLang="en-US" smtClean="0"/>
              <a:t>2026/2/17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8550-F297-4E1C-9507-AEC21DE124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7831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456B-CE6B-47E5-9CBE-481AF3EAF1CE}" type="datetimeFigureOut">
              <a:rPr lang="zh-TW" altLang="en-US" smtClean="0"/>
              <a:t>2026/2/17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8550-F297-4E1C-9507-AEC21DE124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122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456B-CE6B-47E5-9CBE-481AF3EAF1CE}" type="datetimeFigureOut">
              <a:rPr lang="zh-TW" altLang="en-US" smtClean="0"/>
              <a:t>2026/2/17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8550-F297-4E1C-9507-AEC21DE124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7709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456B-CE6B-47E5-9CBE-481AF3EAF1CE}" type="datetimeFigureOut">
              <a:rPr lang="zh-TW" altLang="en-US" smtClean="0"/>
              <a:t>2026/2/17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8550-F297-4E1C-9507-AEC21DE1242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88700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456B-CE6B-47E5-9CBE-481AF3EAF1CE}" type="datetimeFigureOut">
              <a:rPr lang="zh-TW" altLang="en-US" smtClean="0"/>
              <a:t>2026/2/17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8550-F297-4E1C-9507-AEC21DE124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2551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456B-CE6B-47E5-9CBE-481AF3EAF1CE}" type="datetimeFigureOut">
              <a:rPr lang="zh-TW" altLang="en-US" smtClean="0"/>
              <a:t>2026/2/17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8550-F297-4E1C-9507-AEC21DE124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19251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456B-CE6B-47E5-9CBE-481AF3EAF1CE}" type="datetimeFigureOut">
              <a:rPr lang="zh-TW" altLang="en-US" smtClean="0"/>
              <a:t>2026/2/17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8550-F297-4E1C-9507-AEC21DE124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43522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456B-CE6B-47E5-9CBE-481AF3EAF1CE}" type="datetimeFigureOut">
              <a:rPr lang="zh-TW" altLang="en-US" smtClean="0"/>
              <a:t>2026/2/17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8550-F297-4E1C-9507-AEC21DE124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43514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E456B-CE6B-47E5-9CBE-481AF3EAF1CE}" type="datetimeFigureOut">
              <a:rPr lang="zh-TW" altLang="en-US" smtClean="0"/>
              <a:t>2026/2/17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F8550-F297-4E1C-9507-AEC21DE124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8254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95E456B-CE6B-47E5-9CBE-481AF3EAF1CE}" type="datetimeFigureOut">
              <a:rPr lang="zh-TW" altLang="en-US" smtClean="0"/>
              <a:t>2026/2/17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FBF8550-F297-4E1C-9507-AEC21DE124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9000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.thb.gov.tw/hb01/webMain.aspx?sys=100&amp;funid=11100" TargetMode="External"/><Relationship Id="rId2" Type="http://schemas.openxmlformats.org/officeDocument/2006/relationships/hyperlink" Target="https://www.metro.taipei/cp.aspx?n=FF31501BEBDD0136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ldep.gov.taipei/Public/DownLoad/AnnualReport.aspx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990165" y="1214438"/>
            <a:ext cx="8218842" cy="1378155"/>
          </a:xfrm>
        </p:spPr>
        <p:txBody>
          <a:bodyPr anchor="ctr"/>
          <a:lstStyle/>
          <a:p>
            <a:pPr algn="r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北捷營運後之環境探討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34757" y="2441986"/>
            <a:ext cx="8674249" cy="2966421"/>
          </a:xfrm>
        </p:spPr>
        <p:txBody>
          <a:bodyPr/>
          <a:lstStyle/>
          <a:p>
            <a:pPr algn="r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北捷搭乘人數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大台北汽機車數量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空氣品質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algn="r"/>
            <a:endParaRPr lang="en-US" altLang="zh-TW" dirty="0"/>
          </a:p>
          <a:p>
            <a:pPr algn="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報告人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en-US" altLang="zh-TW" dirty="0"/>
              <a:t>03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王熙舒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544" y="4156043"/>
            <a:ext cx="4862456" cy="2736018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279" y="1397974"/>
            <a:ext cx="1150624" cy="119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702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1113464"/>
          </a:xfrm>
        </p:spPr>
        <p:txBody>
          <a:bodyPr>
            <a:normAutofit/>
          </a:bodyPr>
          <a:lstStyle/>
          <a:p>
            <a:pPr algn="l"/>
            <a:r>
              <a:rPr lang="zh-TW" altLang="en-US" sz="4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專題目錄</a:t>
            </a:r>
            <a:endParaRPr lang="zh-TW" altLang="en-US" sz="4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913774" y="2259106"/>
            <a:ext cx="10363826" cy="3532094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01</a:t>
            </a:r>
            <a:r>
              <a:rPr lang="en-US" altLang="zh-TW" sz="2400" dirty="0" smtClean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zh-TW" altLang="en-US" sz="2800" u="sng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專題概述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			</a:t>
            </a:r>
            <a:r>
              <a:rPr lang="en-US" altLang="zh-TW" dirty="0" smtClean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02</a:t>
            </a:r>
            <a:r>
              <a:rPr lang="en-US" altLang="zh-TW" sz="2400" dirty="0" smtClean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</a:t>
            </a:r>
            <a:r>
              <a:rPr lang="zh-TW" altLang="en-US" sz="2800" u="sng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流程</a:t>
            </a:r>
            <a:r>
              <a:rPr lang="zh-TW" altLang="en-US" sz="28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與圖表</a:t>
            </a:r>
            <a:r>
              <a:rPr lang="zh-TW" altLang="en-US" sz="2800" u="sng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說明</a:t>
            </a: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2438" indent="0">
              <a:lnSpc>
                <a:spcPct val="100000"/>
              </a:lnSpc>
              <a:spcBef>
                <a:spcPts val="0"/>
              </a:spcBef>
              <a:buNone/>
              <a:tabLst>
                <a:tab pos="4033838" algn="l"/>
              </a:tabLst>
            </a:pP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研究</a:t>
            </a:r>
            <a:r>
              <a:rPr lang="zh-TW" altLang="en-US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動機</a:t>
            </a:r>
            <a:r>
              <a:rPr lang="en-US" altLang="zh-TW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	</a:t>
            </a:r>
            <a:r>
              <a:rPr lang="zh-TW" altLang="en-US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從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數據中獲得洞察</a:t>
            </a:r>
            <a:endParaRPr lang="en-US" altLang="zh-TW" sz="1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03 </a:t>
            </a:r>
            <a:r>
              <a:rPr lang="zh-TW" altLang="en-US" sz="2800" u="sng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問題</a:t>
            </a:r>
            <a:r>
              <a:rPr lang="zh-TW" altLang="en-US" sz="28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與</a:t>
            </a:r>
            <a:r>
              <a:rPr lang="zh-TW" altLang="en-US" sz="2800" u="sng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對策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		</a:t>
            </a:r>
            <a:r>
              <a:rPr lang="en-US" altLang="zh-TW" dirty="0" smtClean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04 </a:t>
            </a:r>
            <a:r>
              <a:rPr lang="zh-TW" altLang="en-US" sz="2800" u="sng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結語</a:t>
            </a:r>
            <a:endParaRPr lang="zh-TW" altLang="en-US" sz="2800" u="sng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2438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程式開發</a:t>
            </a:r>
            <a:r>
              <a:rPr lang="zh-TW" altLang="en-US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中的問題及對策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34780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913774" y="871370"/>
            <a:ext cx="10363826" cy="4919830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專題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概述</a:t>
            </a:r>
            <a:endParaRPr lang="en-US" altLang="zh-TW" dirty="0"/>
          </a:p>
          <a:p>
            <a:r>
              <a:rPr lang="zh-TW" altLang="en-US" sz="4800" u="sng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研究動機與目標</a:t>
            </a:r>
            <a:endParaRPr lang="en-US" altLang="zh-TW" sz="4800" u="sng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indent="-46038"/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日常的交通工具在生活上可能發生的環境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變化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indent="-46038"/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好奇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地將捷運</a:t>
            </a:r>
            <a:r>
              <a:rPr lang="zh-TW" altLang="en-US" sz="2800" dirty="0">
                <a:solidFill>
                  <a:schemeClr val="accent5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人數流量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與</a:t>
            </a:r>
            <a:r>
              <a:rPr lang="zh-TW" altLang="en-US" sz="2800" dirty="0" smtClean="0">
                <a:solidFill>
                  <a:schemeClr val="accent5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汽機</a:t>
            </a:r>
            <a:r>
              <a:rPr lang="zh-TW" altLang="en-US" sz="2800" dirty="0">
                <a:solidFill>
                  <a:schemeClr val="accent5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車數量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來做比對</a:t>
            </a:r>
          </a:p>
          <a:p>
            <a:pPr indent="-46038"/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再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延伸看看環境的</a:t>
            </a:r>
            <a:r>
              <a:rPr lang="zh-TW" altLang="en-US" sz="2800" dirty="0">
                <a:solidFill>
                  <a:schemeClr val="accent5">
                    <a:lumMod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空氣品質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變化</a:t>
            </a:r>
          </a:p>
        </p:txBody>
      </p:sp>
    </p:spTree>
    <p:extLst>
      <p:ext uri="{BB962C8B-B14F-4D97-AF65-F5344CB8AC3E}">
        <p14:creationId xmlns:p14="http://schemas.microsoft.com/office/powerpoint/2010/main" val="354096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913774" y="806824"/>
            <a:ext cx="10363826" cy="4984375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專題概述</a:t>
            </a:r>
            <a:endParaRPr lang="en-US" altLang="zh-TW" dirty="0"/>
          </a:p>
          <a:p>
            <a:r>
              <a:rPr lang="zh-TW" altLang="en-US" sz="4800" u="sng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資料來源</a:t>
            </a:r>
            <a:endParaRPr lang="en-US" altLang="zh-TW" sz="4800" u="sng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臺北大眾捷運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股份有限公司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官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網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旅運量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網頁呈現資料</a:t>
            </a: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68288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dirty="0">
                <a:hlinkClick r:id="rId2"/>
              </a:rPr>
              <a:t>https://</a:t>
            </a:r>
            <a:r>
              <a:rPr lang="en-US" altLang="zh-TW" dirty="0" smtClean="0">
                <a:hlinkClick r:id="rId2"/>
              </a:rPr>
              <a:t>www.metro.taipei/cp.aspx?n=FF31501BEBDD0136</a:t>
            </a:r>
            <a:endParaRPr lang="en-US" altLang="zh-TW" dirty="0" smtClean="0"/>
          </a:p>
          <a:p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交通部公路局 統計查詢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網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800" cap="none" dirty="0" smtClean="0">
                <a:ea typeface="Calibri" panose="020F0502020204030204" pitchFamily="34" charset="0"/>
                <a:cs typeface="Calibri" panose="020F0502020204030204" pitchFamily="34" charset="0"/>
              </a:rPr>
              <a:t>Excel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檔案</a:t>
            </a: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68288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dirty="0">
                <a:hlinkClick r:id="rId3"/>
              </a:rPr>
              <a:t>https://</a:t>
            </a:r>
            <a:r>
              <a:rPr lang="en-US" altLang="zh-TW" dirty="0" smtClean="0">
                <a:hlinkClick r:id="rId3"/>
              </a:rPr>
              <a:t>stat.thb.gov.tw/hb01/webMain.aspx?sys=100&amp;funid=11100</a:t>
            </a:r>
            <a:endParaRPr lang="en-US" altLang="zh-TW" dirty="0"/>
          </a:p>
          <a:p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臺北市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環境品質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資訊網</a:t>
            </a:r>
            <a:r>
              <a:rPr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2800" dirty="0" smtClean="0">
                <a:ea typeface="Calibri" panose="020F0502020204030204" pitchFamily="34" charset="0"/>
                <a:cs typeface="Calibri" panose="020F0502020204030204" pitchFamily="34" charset="0"/>
              </a:rPr>
              <a:t>pdf</a:t>
            </a:r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檔案</a:t>
            </a: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68288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TW" dirty="0">
                <a:hlinkClick r:id="rId4"/>
              </a:rPr>
              <a:t>https://</a:t>
            </a:r>
            <a:r>
              <a:rPr lang="en-US" altLang="zh-TW" dirty="0" smtClean="0">
                <a:hlinkClick r:id="rId4"/>
              </a:rPr>
              <a:t>www.tldep.gov.taipei/Public/DownLoad/AnnualReport.aspx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5311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913773" y="828340"/>
            <a:ext cx="11102519" cy="4962860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流程與圖表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說明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55" y="1624405"/>
            <a:ext cx="8268694" cy="4862456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8756724" y="1624405"/>
            <a:ext cx="3033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歷年的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捷運搭乘人員數量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的網頁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1839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913773" y="333487"/>
            <a:ext cx="10037511" cy="5457713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流程與圖表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說明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r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網頁顯示每一日的捷運搭乘人數及當月的總量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221" y="860610"/>
            <a:ext cx="4055633" cy="590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19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913773" y="333487"/>
            <a:ext cx="10812062" cy="5457713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流程與圖表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說明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r"/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8111266" y="1011238"/>
            <a:ext cx="4080734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每月的加總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成為整年的搭乘人數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以年為單位畫出的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bar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及折線圖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 smtClean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每年的人數是成長的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只有疫情封城的時候是下降的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解封後又快速回升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通車時間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棕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木柵線（中山國中－木柵）：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85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月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28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日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紅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淡水線（淡水－中山）：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86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月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28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日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綠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新店線（中正紀念堂－新店）：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87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12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月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24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日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橘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中和線（古亭－南勢角）：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87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12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月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24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日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藍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藍線（市政府－龍山寺）：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88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12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月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24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日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藍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龍山寺－板橋：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89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8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月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31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日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藍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板橋－土城：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95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月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31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日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藍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昆陽－南港展覽館：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97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12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月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25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日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棕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內湖線（中山國中－南港展覽館）：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98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7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月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日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橘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蘆洲線（大橋頭－蘆洲）：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99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11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月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日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橘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新莊線（大橋頭－輔大）：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101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月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日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紅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信義線（中正紀念堂－象山）：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102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11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月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24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日	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綠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松山線（西門－松山）：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103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11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月</a:t>
            </a:r>
            <a:r>
              <a:rPr lang="en-US" altLang="zh-TW" sz="1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15</a:t>
            </a:r>
            <a:r>
              <a:rPr lang="zh-TW" altLang="en-US" sz="1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日</a:t>
            </a:r>
            <a:endParaRPr lang="zh-TW" altLang="en-US" sz="1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藍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土城－頂埔：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104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7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月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6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日	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黃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新北產業園區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大坪林：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109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月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31</a:t>
            </a:r>
            <a:r>
              <a:rPr lang="zh-TW" altLang="en-US" sz="1400" dirty="0">
                <a:latin typeface="標楷體" panose="03000509000000000000" pitchFamily="65" charset="-120"/>
                <a:ea typeface="標楷體" panose="03000509000000000000" pitchFamily="65" charset="-120"/>
              </a:rPr>
              <a:t>日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6821"/>
            <a:ext cx="8150698" cy="597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153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913773" y="828340"/>
            <a:ext cx="11102519" cy="4962860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流程與圖表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說明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9175009" y="1538341"/>
            <a:ext cx="30169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汽機車查詢的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網頁</a:t>
            </a:r>
          </a:p>
          <a:p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2031"/>
            <a:ext cx="9175008" cy="487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74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913773" y="333487"/>
            <a:ext cx="10424787" cy="5457713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流程與圖表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說明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072" y="830648"/>
            <a:ext cx="5637903" cy="6015337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6710287" y="1035043"/>
            <a:ext cx="47459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網頁顯示查詢的總量及提供</a:t>
            </a:r>
            <a:r>
              <a:rPr lang="en-US" altLang="zh-TW" sz="2400" dirty="0">
                <a:ea typeface="標楷體" panose="03000509000000000000" pitchFamily="65" charset="-120"/>
              </a:rPr>
              <a:t>Excel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下載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75657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5765" y="1162610"/>
            <a:ext cx="10713118" cy="5306341"/>
          </a:xfrm>
          <a:prstGeom prst="rect">
            <a:avLst/>
          </a:prstGeom>
        </p:spPr>
      </p:pic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913773" y="333487"/>
            <a:ext cx="10812062" cy="5457713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流程與圖表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說明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汽機車數量的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成長比較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r"/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8790039" y="1414361"/>
            <a:ext cx="325447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前一張圖表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加入台北地區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的汽機車數量的比較圖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看到</a:t>
            </a:r>
            <a:r>
              <a:rPr lang="zh-TW" altLang="en-US" dirty="0" smtClean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汽機車的成長沒有捷運人數的快速</a:t>
            </a:r>
            <a:r>
              <a:rPr lang="en-US" altLang="zh-TW" dirty="0" smtClean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但也沒有使得汽機車快速消失</a:t>
            </a:r>
            <a:endParaRPr lang="en-US" altLang="zh-TW" dirty="0" smtClean="0">
              <a:solidFill>
                <a:schemeClr val="accent5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由於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汽機車數量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的數值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不到捷運人數的百分之一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所以前一張圖表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只在底部看到紅色的點點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此圖表特別將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汽機車數量的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數值放大來看其成長的趨勢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紅色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的折線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有兩個跳躍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是第一段只有新北市的機車數量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第二段加入台北市機車的數量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第三段加入汽車的數量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是網頁上沒有提供前面年份的資料所造成的結果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5061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656" y="3570921"/>
            <a:ext cx="4474765" cy="3356074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72" y="441332"/>
            <a:ext cx="4356317" cy="3267238"/>
          </a:xfrm>
          <a:prstGeom prst="rect">
            <a:avLst/>
          </a:prstGeom>
        </p:spPr>
      </p:pic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913773" y="167149"/>
            <a:ext cx="10812062" cy="5624052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流程與圖表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說明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汽機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車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油車與電動車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比較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r"/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7128388" y="893265"/>
            <a:ext cx="325447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上面的圖表是機車的油車與電動車得比較圖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油</a:t>
            </a:r>
            <a:r>
              <a:rPr lang="zh-TW" altLang="en-US" dirty="0" smtClean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車的數量緩慢的下降</a:t>
            </a:r>
            <a:r>
              <a:rPr lang="en-US" altLang="zh-TW" dirty="0" smtClean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電動車也慢慢成長</a:t>
            </a:r>
            <a:endParaRPr lang="en-US" altLang="zh-TW" dirty="0" smtClean="0">
              <a:solidFill>
                <a:schemeClr val="accent5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下圖是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圖表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是汽車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的油車與電動車得比較圖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油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車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數量稍有成長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又</a:t>
            </a:r>
            <a:r>
              <a:rPr lang="zh-TW" altLang="en-US" dirty="0" smtClean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緩慢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的下降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電動車</a:t>
            </a:r>
            <a:r>
              <a:rPr lang="zh-TW" altLang="en-US" dirty="0" smtClean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也是慢慢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成長</a:t>
            </a:r>
            <a:endParaRPr lang="en-US" altLang="zh-TW" dirty="0">
              <a:solidFill>
                <a:schemeClr val="accent5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56453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913773" y="530941"/>
            <a:ext cx="10812062" cy="5260259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流程與圖表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說明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汽機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車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油車與電動車的比較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r"/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7226711" y="1638318"/>
            <a:ext cx="32544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將前一頁的圖表組合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只看油車與電動車差異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油車的總數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是緩慢</a:t>
            </a:r>
            <a:r>
              <a:rPr lang="zh-TW" altLang="en-US" dirty="0" smtClean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下降</a:t>
            </a:r>
            <a:r>
              <a:rPr lang="en-US" altLang="zh-TW" dirty="0" smtClean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電動車</a:t>
            </a:r>
            <a:r>
              <a:rPr lang="zh-TW" altLang="en-US" dirty="0" smtClean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的總數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則</a:t>
            </a:r>
            <a:r>
              <a:rPr lang="zh-TW" altLang="en-US" dirty="0" smtClean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是緩慢上升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顯然大眾對電動車也開始接受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比較有環保意識</a:t>
            </a:r>
            <a:endParaRPr lang="en-US" altLang="zh-TW" dirty="0" smtClean="0">
              <a:solidFill>
                <a:schemeClr val="accent5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05" y="1185762"/>
            <a:ext cx="6623683" cy="496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60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913773" y="530941"/>
            <a:ext cx="10812062" cy="5260259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流程與圖表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說明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空氣品質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與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油車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電動車的比較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r"/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7659331" y="1569492"/>
            <a:ext cx="32544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將前一頁的圖表組合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加入空氣品質的數據來觀察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空氣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品質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取二氧化硫</a:t>
            </a:r>
            <a:r>
              <a:rPr lang="en-US" altLang="zh-TW" dirty="0" smtClean="0">
                <a:ea typeface="標楷體" panose="03000509000000000000" pitchFamily="65" charset="-120"/>
              </a:rPr>
              <a:t>(</a:t>
            </a:r>
            <a:r>
              <a:rPr lang="en-US" altLang="zh-TW" dirty="0" smtClean="0">
                <a:ea typeface="Calibri" panose="020F0502020204030204" pitchFamily="34" charset="0"/>
                <a:cs typeface="Calibri" panose="020F0502020204030204" pitchFamily="34" charset="0"/>
              </a:rPr>
              <a:t>SO</a:t>
            </a:r>
            <a:r>
              <a:rPr lang="en-US" altLang="zh-TW" baseline="-25000" dirty="0" smtClean="0"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zh-TW" dirty="0" smtClean="0">
                <a:ea typeface="標楷體" panose="03000509000000000000" pitchFamily="65" charset="-120"/>
              </a:rPr>
              <a:t>)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與</a:t>
            </a:r>
            <a:r>
              <a:rPr lang="en-US" altLang="zh-TW" dirty="0" smtClean="0">
                <a:ea typeface="Calibri" panose="020F0502020204030204" pitchFamily="34" charset="0"/>
                <a:cs typeface="Calibri" panose="020F0502020204030204" pitchFamily="34" charset="0"/>
              </a:rPr>
              <a:t>PM2.5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的數據來觀察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在有數據資料的近幾年來看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這些汙染物是有下降的趨勢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或許是電動車的數量再慢慢發會影響中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30" y="988633"/>
            <a:ext cx="7512473" cy="563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696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913774" y="727588"/>
            <a:ext cx="10363826" cy="5063612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問題與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對策</a:t>
            </a:r>
            <a:endParaRPr lang="en-US" altLang="zh-TW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91" y="1166231"/>
            <a:ext cx="2686298" cy="169414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325" y="1195727"/>
            <a:ext cx="3825099" cy="1596637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8170606" y="1402456"/>
            <a:ext cx="33432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[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問題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]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使用</a:t>
            </a:r>
            <a:r>
              <a:rPr lang="en-US" altLang="zh-TW" dirty="0" err="1" smtClean="0"/>
              <a:t>Matplotlib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來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製作</a:t>
            </a:r>
            <a:r>
              <a:rPr lang="en-US" altLang="zh-TW" dirty="0"/>
              <a:t>b</a:t>
            </a:r>
            <a:r>
              <a:rPr lang="en-US" altLang="zh-TW" dirty="0" smtClean="0"/>
              <a:t>ar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的圖表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一個</a:t>
            </a:r>
            <a:r>
              <a:rPr lang="en-US" altLang="zh-TW" dirty="0"/>
              <a:t>X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軸的位置</a:t>
            </a:r>
            <a:r>
              <a:rPr lang="en-US" altLang="zh-TW" dirty="0"/>
              <a:t>,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要並列兩個</a:t>
            </a:r>
            <a:r>
              <a:rPr lang="en-US" altLang="zh-TW" dirty="0"/>
              <a:t>,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及</a:t>
            </a:r>
            <a:r>
              <a:rPr lang="en-US" altLang="zh-TW" dirty="0"/>
              <a:t>4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個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/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[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解決方案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]</a:t>
            </a:r>
          </a:p>
          <a:p>
            <a:r>
              <a:rPr lang="zh-TW" altLang="en-US" dirty="0" smtClean="0">
                <a:latin typeface="Tw Cen MT" panose="020B0602020104020603" pitchFamily="34" charset="0"/>
                <a:ea typeface="標楷體" panose="03000509000000000000" pitchFamily="65" charset="-120"/>
              </a:rPr>
              <a:t>使用</a:t>
            </a:r>
            <a:r>
              <a:rPr lang="en-US" altLang="zh-TW" dirty="0" err="1" smtClean="0">
                <a:latin typeface="Tw Cen MT" panose="020B0602020104020603" pitchFamily="34" charset="0"/>
                <a:ea typeface="標楷體" panose="03000509000000000000" pitchFamily="65" charset="-120"/>
              </a:rPr>
              <a:t>plt.subplots</a:t>
            </a:r>
            <a:r>
              <a:rPr lang="en-US" altLang="zh-TW" dirty="0" smtClean="0">
                <a:latin typeface="Tw Cen MT" panose="020B0602020104020603" pitchFamily="34" charset="0"/>
                <a:ea typeface="標楷體" panose="03000509000000000000" pitchFamily="65" charset="-120"/>
              </a:rPr>
              <a:t>(), </a:t>
            </a:r>
            <a:r>
              <a:rPr lang="zh-TW" altLang="en-US" dirty="0" smtClean="0">
                <a:latin typeface="Tw Cen MT" panose="020B0602020104020603" pitchFamily="34" charset="0"/>
                <a:ea typeface="標楷體" panose="03000509000000000000" pitchFamily="65" charset="-120"/>
              </a:rPr>
              <a:t>再微調每一個</a:t>
            </a:r>
            <a:r>
              <a:rPr lang="en-US" altLang="zh-TW" dirty="0" smtClean="0">
                <a:latin typeface="Tw Cen MT" panose="020B0602020104020603" pitchFamily="34" charset="0"/>
                <a:ea typeface="標楷體" panose="03000509000000000000" pitchFamily="65" charset="-120"/>
              </a:rPr>
              <a:t>bar</a:t>
            </a:r>
            <a:r>
              <a:rPr lang="zh-TW" altLang="en-US" dirty="0" smtClean="0">
                <a:latin typeface="Tw Cen MT" panose="020B0602020104020603" pitchFamily="34" charset="0"/>
                <a:ea typeface="標楷體" panose="03000509000000000000" pitchFamily="65" charset="-120"/>
              </a:rPr>
              <a:t>的起始位置及寬度</a:t>
            </a:r>
            <a:r>
              <a:rPr lang="en-US" altLang="zh-TW" dirty="0" smtClean="0">
                <a:latin typeface="Tw Cen MT" panose="020B0602020104020603" pitchFamily="34" charset="0"/>
                <a:ea typeface="標楷體" panose="03000509000000000000" pitchFamily="65" charset="-120"/>
              </a:rPr>
              <a:t>, </a:t>
            </a:r>
            <a:r>
              <a:rPr lang="zh-TW" altLang="en-US" dirty="0" smtClean="0">
                <a:latin typeface="Tw Cen MT" panose="020B0602020104020603" pitchFamily="34" charset="0"/>
                <a:ea typeface="標楷體" panose="03000509000000000000" pitchFamily="65" charset="-120"/>
              </a:rPr>
              <a:t>不要與隔壁的</a:t>
            </a:r>
            <a:r>
              <a:rPr lang="en-US" altLang="zh-TW" dirty="0" smtClean="0">
                <a:latin typeface="Tw Cen MT" panose="020B0602020104020603" pitchFamily="34" charset="0"/>
                <a:ea typeface="標楷體" panose="03000509000000000000" pitchFamily="65" charset="-120"/>
              </a:rPr>
              <a:t>bar</a:t>
            </a:r>
            <a:r>
              <a:rPr lang="zh-TW" altLang="en-US" dirty="0" smtClean="0">
                <a:latin typeface="Tw Cen MT" panose="020B0602020104020603" pitchFamily="34" charset="0"/>
                <a:ea typeface="標楷體" panose="03000509000000000000" pitchFamily="65" charset="-120"/>
              </a:rPr>
              <a:t>相疊</a:t>
            </a:r>
            <a:endParaRPr lang="zh-TW" altLang="en-US" dirty="0">
              <a:latin typeface="Tw Cen MT" panose="020B0602020104020603" pitchFamily="34" charset="0"/>
              <a:ea typeface="標楷體" panose="03000509000000000000" pitchFamily="65" charset="-120"/>
            </a:endParaRPr>
          </a:p>
          <a:p>
            <a:endParaRPr lang="zh-TW" altLang="en-US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90" y="2792364"/>
            <a:ext cx="6882131" cy="409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402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913774" y="727588"/>
            <a:ext cx="10363826" cy="5063612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問題與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對策</a:t>
            </a:r>
            <a:endParaRPr lang="en-US" altLang="zh-TW" dirty="0" smtClean="0"/>
          </a:p>
        </p:txBody>
      </p:sp>
      <p:sp>
        <p:nvSpPr>
          <p:cNvPr id="7" name="文字方塊 6"/>
          <p:cNvSpPr txBox="1"/>
          <p:nvPr/>
        </p:nvSpPr>
        <p:spPr>
          <a:xfrm>
            <a:off x="913775" y="1402456"/>
            <a:ext cx="99803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[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問題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]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汽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機車數量的下載</a:t>
            </a:r>
            <a:r>
              <a:rPr lang="en-US" altLang="zh-TW" dirty="0" smtClean="0">
                <a:ea typeface="標楷體" panose="03000509000000000000" pitchFamily="65" charset="-120"/>
              </a:rPr>
              <a:t>Excel </a:t>
            </a:r>
            <a:r>
              <a:rPr lang="en-US" altLang="zh-TW" dirty="0">
                <a:ea typeface="標楷體" panose="03000509000000000000" pitchFamily="65" charset="-120"/>
              </a:rPr>
              <a:t>file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無法正確來讀取使用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/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[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解決方案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]</a:t>
            </a:r>
          </a:p>
          <a:p>
            <a:r>
              <a:rPr lang="zh-TW" altLang="en-US" dirty="0" smtClean="0">
                <a:latin typeface="Tw Cen MT" panose="020B0602020104020603" pitchFamily="34" charset="0"/>
                <a:ea typeface="標楷體" panose="03000509000000000000" pitchFamily="65" charset="-120"/>
              </a:rPr>
              <a:t>使用</a:t>
            </a:r>
            <a:r>
              <a:rPr lang="en-US" altLang="zh-TW" dirty="0" err="1">
                <a:latin typeface="Tw Cen MT" panose="020B0602020104020603" pitchFamily="34" charset="0"/>
                <a:ea typeface="標楷體" panose="03000509000000000000" pitchFamily="65" charset="-120"/>
              </a:rPr>
              <a:t>pd.read_excel</a:t>
            </a:r>
            <a:r>
              <a:rPr lang="en-US" altLang="zh-TW" dirty="0">
                <a:latin typeface="Tw Cen MT" panose="020B0602020104020603" pitchFamily="34" charset="0"/>
                <a:ea typeface="標楷體" panose="03000509000000000000" pitchFamily="65" charset="-120"/>
              </a:rPr>
              <a:t>() </a:t>
            </a:r>
            <a:r>
              <a:rPr lang="zh-TW" altLang="en-US" dirty="0" smtClean="0">
                <a:latin typeface="Tw Cen MT" panose="020B0602020104020603" pitchFamily="34" charset="0"/>
                <a:ea typeface="標楷體" panose="03000509000000000000" pitchFamily="65" charset="-120"/>
              </a:rPr>
              <a:t>讀取失敗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latin typeface="Tw Cen MT" panose="020B0602020104020603" pitchFamily="34" charset="0"/>
                <a:ea typeface="標楷體" panose="03000509000000000000" pitchFamily="65" charset="-120"/>
              </a:rPr>
              <a:t>要使用</a:t>
            </a:r>
            <a:r>
              <a:rPr lang="en-US" altLang="zh-TW" dirty="0" smtClean="0">
                <a:latin typeface="Tw Cen MT" panose="020B0602020104020603" pitchFamily="34" charset="0"/>
                <a:ea typeface="標楷體" panose="03000509000000000000" pitchFamily="65" charset="-120"/>
              </a:rPr>
              <a:t>Office Excel</a:t>
            </a:r>
            <a:r>
              <a:rPr lang="zh-TW" altLang="en-US" dirty="0" smtClean="0">
                <a:latin typeface="Tw Cen MT" panose="020B0602020104020603" pitchFamily="34" charset="0"/>
                <a:ea typeface="標楷體" panose="03000509000000000000" pitchFamily="65" charset="-120"/>
              </a:rPr>
              <a:t>開啟</a:t>
            </a:r>
            <a:r>
              <a:rPr lang="en-US" altLang="zh-TW" dirty="0" smtClean="0">
                <a:latin typeface="Tw Cen MT" panose="020B0602020104020603" pitchFamily="34" charset="0"/>
                <a:ea typeface="標楷體" panose="03000509000000000000" pitchFamily="65" charset="-120"/>
              </a:rPr>
              <a:t>,</a:t>
            </a:r>
            <a:r>
              <a:rPr lang="zh-TW" altLang="en-US" dirty="0">
                <a:latin typeface="Tw Cen MT" panose="020B0602020104020603" pitchFamily="34" charset="0"/>
                <a:ea typeface="標楷體" panose="03000509000000000000" pitchFamily="65" charset="-120"/>
              </a:rPr>
              <a:t>另</a:t>
            </a:r>
            <a:r>
              <a:rPr lang="zh-TW" altLang="en-US" dirty="0" smtClean="0">
                <a:latin typeface="Tw Cen MT" panose="020B0602020104020603" pitchFamily="34" charset="0"/>
                <a:ea typeface="標楷體" panose="03000509000000000000" pitchFamily="65" charset="-120"/>
              </a:rPr>
              <a:t>存新檔一次</a:t>
            </a:r>
            <a:r>
              <a:rPr lang="en-US" altLang="zh-TW" dirty="0" smtClean="0">
                <a:latin typeface="Tw Cen MT" panose="020B0602020104020603" pitchFamily="34" charset="0"/>
                <a:ea typeface="標楷體" panose="03000509000000000000" pitchFamily="65" charset="-120"/>
              </a:rPr>
              <a:t>, </a:t>
            </a:r>
            <a:r>
              <a:rPr lang="zh-TW" altLang="en-US" dirty="0" smtClean="0">
                <a:latin typeface="Tw Cen MT" panose="020B0602020104020603" pitchFamily="34" charset="0"/>
                <a:ea typeface="標楷體" panose="03000509000000000000" pitchFamily="65" charset="-120"/>
              </a:rPr>
              <a:t>就可以使用了</a:t>
            </a:r>
            <a:endParaRPr lang="en-US" altLang="zh-TW" dirty="0" smtClean="0">
              <a:latin typeface="Tw Cen MT" panose="020B0602020104020603" pitchFamily="34" charset="0"/>
              <a:ea typeface="標楷體" panose="03000509000000000000" pitchFamily="65" charset="-120"/>
            </a:endParaRPr>
          </a:p>
          <a:p>
            <a:endParaRPr lang="en-US" altLang="zh-TW" dirty="0">
              <a:latin typeface="Tw Cen MT" panose="020B0602020104020603" pitchFamily="34" charset="0"/>
              <a:ea typeface="標楷體" panose="03000509000000000000" pitchFamily="65" charset="-12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35763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913774" y="727588"/>
            <a:ext cx="10363826" cy="5063612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問題與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對策</a:t>
            </a:r>
            <a:endParaRPr lang="en-US" altLang="zh-TW" dirty="0" smtClean="0"/>
          </a:p>
        </p:txBody>
      </p:sp>
      <p:sp>
        <p:nvSpPr>
          <p:cNvPr id="7" name="文字方塊 6"/>
          <p:cNvSpPr txBox="1"/>
          <p:nvPr/>
        </p:nvSpPr>
        <p:spPr>
          <a:xfrm>
            <a:off x="8170606" y="1402456"/>
            <a:ext cx="334327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[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問題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]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空氣品質的</a:t>
            </a:r>
            <a:r>
              <a:rPr lang="en-US" altLang="zh-TW" dirty="0">
                <a:ea typeface="標楷體" panose="03000509000000000000" pitchFamily="65" charset="-120"/>
              </a:rPr>
              <a:t>PDF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檔案的數據</a:t>
            </a:r>
            <a:r>
              <a:rPr lang="en-US" altLang="zh-TW" dirty="0">
                <a:ea typeface="標楷體" panose="03000509000000000000" pitchFamily="65" charset="-120"/>
              </a:rPr>
              <a:t>table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圖表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要擷取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使用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dirty="0" smtClean="0">
                <a:ea typeface="標楷體" panose="03000509000000000000" pitchFamily="65" charset="-120"/>
              </a:rPr>
              <a:t>PDF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檔案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是台北市政府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年度報告書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資料繁多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endParaRPr lang="en-US" altLang="zh-TW" dirty="0"/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[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解決方案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]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先使用</a:t>
            </a:r>
            <a:r>
              <a:rPr lang="en-US" altLang="zh-TW" dirty="0" err="1">
                <a:ea typeface="標楷體" panose="03000509000000000000" pitchFamily="65" charset="-120"/>
              </a:rPr>
              <a:t>Winodws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r>
              <a:rPr lang="en-US" altLang="zh-TW" dirty="0">
                <a:ea typeface="標楷體" panose="03000509000000000000" pitchFamily="65" charset="-120"/>
              </a:rPr>
              <a:t>‘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剪取工具</a:t>
            </a:r>
            <a:r>
              <a:rPr lang="en-US" altLang="zh-TW" dirty="0">
                <a:ea typeface="標楷體" panose="03000509000000000000" pitchFamily="65" charset="-120"/>
              </a:rPr>
              <a:t>’</a:t>
            </a:r>
            <a:r>
              <a:rPr lang="zh-TW" altLang="en-US" dirty="0" smtClean="0">
                <a:ea typeface="標楷體" panose="03000509000000000000" pitchFamily="65" charset="-120"/>
              </a:rPr>
              <a:t>抓取要使用的</a:t>
            </a:r>
            <a:r>
              <a:rPr lang="en-US" altLang="zh-TW" dirty="0" smtClean="0">
                <a:ea typeface="標楷體" panose="03000509000000000000" pitchFamily="65" charset="-120"/>
              </a:rPr>
              <a:t>table</a:t>
            </a:r>
            <a:r>
              <a:rPr lang="zh-TW" altLang="en-US" dirty="0">
                <a:ea typeface="標楷體" panose="03000509000000000000" pitchFamily="65" charset="-120"/>
              </a:rPr>
              <a:t>的圖片</a:t>
            </a:r>
            <a:r>
              <a:rPr lang="en-US" altLang="zh-TW" dirty="0">
                <a:ea typeface="標楷體" panose="03000509000000000000" pitchFamily="65" charset="-120"/>
              </a:rPr>
              <a:t>, 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 smtClean="0">
                <a:ea typeface="標楷體" panose="03000509000000000000" pitchFamily="65" charset="-120"/>
              </a:rPr>
              <a:t>再使用</a:t>
            </a:r>
            <a:r>
              <a:rPr lang="en-US" altLang="zh-TW" dirty="0" err="1">
                <a:ea typeface="標楷體" panose="03000509000000000000" pitchFamily="65" charset="-120"/>
              </a:rPr>
              <a:t>pytesseract</a:t>
            </a:r>
            <a:r>
              <a:rPr lang="en-US" altLang="zh-TW" dirty="0">
                <a:ea typeface="標楷體" panose="03000509000000000000" pitchFamily="65" charset="-120"/>
              </a:rPr>
              <a:t>-OCR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轉換的</a:t>
            </a:r>
            <a:r>
              <a:rPr lang="en-US" altLang="zh-TW" dirty="0">
                <a:ea typeface="標楷體" panose="03000509000000000000" pitchFamily="65" charset="-120"/>
              </a:rPr>
              <a:t>lib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來將圖案中的文字做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轉換來使用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實際使用的效果不好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還是要手動調整來使用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388" y="2172928"/>
            <a:ext cx="4028017" cy="3213305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8360"/>
            <a:ext cx="3527152" cy="558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516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913774" y="776748"/>
            <a:ext cx="10363826" cy="5014451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sz="4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結語</a:t>
            </a:r>
            <a:endParaRPr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通勤暴露風險：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zh-TW" altLang="en-US" sz="24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騎乘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摩托車民眾直接暴露於前方車輛排氣，健康風險較高。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zh-TW" altLang="en-US" sz="24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開車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通勤的單人車輛雖車內污染較低，但對整體的空污貢獻度最高。</a:t>
            </a:r>
          </a:p>
          <a:p>
            <a:endParaRPr lang="zh-TW" altLang="en-US" sz="2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減輕影響措施：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zh-TW" altLang="en-US" sz="24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加強汽機車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定期</a:t>
            </a:r>
            <a:r>
              <a:rPr lang="zh-TW" altLang="en-US" sz="2400" b="1" dirty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檢測與保養，避免廢氣過量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zh-TW" altLang="en-US" sz="2400" b="1" dirty="0" smtClean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推動</a:t>
            </a:r>
            <a:r>
              <a:rPr lang="zh-TW" altLang="en-US" sz="2400" b="1" dirty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低污染運具、電動化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（如電動機車、電動巴士）。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zh-TW" altLang="en-US" sz="2400" b="1" dirty="0" smtClean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搭乘</a:t>
            </a:r>
            <a:r>
              <a:rPr lang="zh-TW" altLang="en-US" sz="2400" b="1" dirty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大眾運輸工具</a:t>
            </a:r>
            <a:r>
              <a:rPr lang="zh-TW" altLang="en-US" sz="2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並落實怠速不熄火。</a:t>
            </a:r>
          </a:p>
        </p:txBody>
      </p:sp>
    </p:spTree>
    <p:extLst>
      <p:ext uri="{BB962C8B-B14F-4D97-AF65-F5344CB8AC3E}">
        <p14:creationId xmlns:p14="http://schemas.microsoft.com/office/powerpoint/2010/main" val="3283423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00515" y="2426556"/>
            <a:ext cx="6282813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8800" b="0" cap="none" spc="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THANK</a:t>
            </a:r>
            <a:r>
              <a:rPr lang="zh-TW" altLang="en-US" sz="8800" b="0" cap="none" spc="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en-US" altLang="zh-TW" sz="8800" b="0" cap="none" spc="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YOU</a:t>
            </a:r>
            <a:endParaRPr lang="zh-TW" altLang="en-US" sz="88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50092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小水滴">
  <a:themeElements>
    <a:clrScheme name="小水滴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小水滴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小水滴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TM04033925[[fn=小水滴]]</Template>
  <TotalTime>1697</TotalTime>
  <Words>1001</Words>
  <Application>Microsoft Office PowerPoint</Application>
  <PresentationFormat>寬螢幕</PresentationFormat>
  <Paragraphs>96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5" baseType="lpstr">
      <vt:lpstr>新細明體</vt:lpstr>
      <vt:lpstr>標楷體</vt:lpstr>
      <vt:lpstr>Arial</vt:lpstr>
      <vt:lpstr>Calibri</vt:lpstr>
      <vt:lpstr>Tw Cen MT</vt:lpstr>
      <vt:lpstr>Wingdings</vt:lpstr>
      <vt:lpstr>小水滴</vt:lpstr>
      <vt:lpstr>北捷營運後之環境探討</vt:lpstr>
      <vt:lpstr>專題目錄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susi.wang@avermedia.com</dc:creator>
  <cp:lastModifiedBy>susi.wang@avermedia.com</cp:lastModifiedBy>
  <cp:revision>58</cp:revision>
  <dcterms:created xsi:type="dcterms:W3CDTF">2026-02-16T08:37:59Z</dcterms:created>
  <dcterms:modified xsi:type="dcterms:W3CDTF">2026-02-18T14:38:59Z</dcterms:modified>
</cp:coreProperties>
</file>